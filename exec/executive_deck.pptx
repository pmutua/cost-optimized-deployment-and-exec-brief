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 / 1,000 requests</c:v>
                </c:pt>
              </c:strCache>
            </c:strRef>
          </c:tx>
          <c:spPr>
            <a:solidFill>
              <a:srgbClr val="118A8A"/>
            </a:solidFill>
          </c:spPr>
          <c:cat>
            <c:strRef>
              <c:f>Sheet1!$A$2:$A$3</c:f>
              <c:strCache>
                <c:ptCount val="2"/>
                <c:pt idx="0">
                  <c:v>Baseline
(2,000 req/day)</c:v>
                </c:pt>
                <c:pt idx="1">
                  <c:v>10x Spike
(20,000 req/day)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1.66</c:v>
                </c:pt>
                <c:pt idx="1">
                  <c:v>0.31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 calls / 20 requests</c:v>
                </c:pt>
              </c:strCache>
            </c:strRef>
          </c:tx>
          <c:spPr>
            <a:solidFill>
              <a:srgbClr val="118A8A"/>
            </a:solidFill>
          </c:spPr>
          <c:cat>
            <c:strRef>
              <c:f>Sheet1!$A$2:$A$3</c:f>
              <c:strCache>
                <c:ptCount val="2"/>
                <c:pt idx="0">
                  <c:v>Before
(no cache)</c:v>
                </c:pt>
                <c:pt idx="1">
                  <c:v>After
(with cache)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(no batch)</c:v>
                </c:pt>
              </c:strCache>
            </c:strRef>
          </c:tx>
          <c:spPr>
            <a:solidFill>
              <a:srgbClr val="B9C4CF"/>
            </a:solidFill>
          </c:spPr>
          <c:cat>
            <c:strRef>
              <c:f>Sheet1!$A$2:$A$3</c:f>
              <c:strCache>
                <c:ptCount val="2"/>
                <c:pt idx="0">
                  <c:v>Token $/1k</c:v>
                </c:pt>
                <c:pt idx="1">
                  <c:v>p95 latency (s)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0.074</c:v>
                </c:pt>
                <c:pt idx="1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(batched)</c:v>
                </c:pt>
              </c:strCache>
            </c:strRef>
          </c:tx>
          <c:spPr>
            <a:solidFill>
              <a:srgbClr val="118A8A"/>
            </a:solidFill>
          </c:spPr>
          <c:cat>
            <c:strRef>
              <c:f>Sheet1!$A$2:$A$3</c:f>
              <c:strCache>
                <c:ptCount val="2"/>
                <c:pt idx="0">
                  <c:v>Token $/1k</c:v>
                </c:pt>
                <c:pt idx="1">
                  <c:v>p95 latency (s)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0.059</c:v>
                </c:pt>
                <c:pt idx="1">
                  <c:v>2.55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8A8A"/>
                </a:solidFill>
                <a:latin typeface="Calibri"/>
              </a:rPr>
              <a:t>COST-OPTIMISED DEPLOYMENT &amp;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AfyaPlus Triage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7D3E0"/>
                </a:solidFill>
                <a:latin typeface="Calibri"/>
              </a:rPr>
              <a:t>Deployed with visible cost controls, two measured optimisation levers,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7D3E0"/>
                </a:solidFill>
                <a:latin typeface="Calibri"/>
              </a:rPr>
              <a:t>an honest API-vs-self-host memo, and a go/no-go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Philip Mutua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18A8A"/>
                </a:solidFill>
                <a:latin typeface="Calibri"/>
              </a:rPr>
              <a:t>github.com/pmutua/cost-optimized-deployment-and-exec-brief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Calibri"/>
              </a:rPr>
              <a:t>What we shipped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50">
                <a:solidFill>
                  <a:srgbClr val="118A8A"/>
                </a:solidFill>
                <a:latin typeface="Calibri"/>
              </a:rPr>
              <a:t>The workload.  </a:t>
            </a:r>
            <a:r>
              <a:rPr sz="1550">
                <a:solidFill>
                  <a:srgbClr val="1A1A1A"/>
                </a:solidFill>
                <a:latin typeface="Calibri"/>
              </a:rPr>
              <a:t>An AI-assisted triage endpoint for AfyaPlus clinic coordinators — a patient message in, an urgency level and safe, non-diagnostic guidance out. One gpt-4o-mini call per request, behind our own secured API.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50">
                <a:solidFill>
                  <a:srgbClr val="118A8A"/>
                </a:solidFill>
                <a:latin typeface="Calibri"/>
              </a:rPr>
              <a:t>The question the CTO asked.  </a:t>
            </a:r>
            <a:r>
              <a:rPr sz="1550">
                <a:solidFill>
                  <a:srgbClr val="1A1A1A"/>
                </a:solidFill>
                <a:latin typeface="Calibri"/>
              </a:rPr>
              <a:t>“If Finance cannot repeat your unit cost, you are not done.” This deck answers that: a repeatable $/1,000-request number, two working cost levers with real before/after evidence, and a clear recommendation.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50">
                <a:solidFill>
                  <a:srgbClr val="118A8A"/>
                </a:solidFill>
                <a:latin typeface="Calibri"/>
              </a:rPr>
              <a:t>What's real vs. estimated.  </a:t>
            </a:r>
            <a:r>
              <a:rPr sz="1550">
                <a:solidFill>
                  <a:srgbClr val="1A1A1A"/>
                </a:solidFill>
                <a:latin typeface="Calibri"/>
              </a:rPr>
              <a:t>The API deployment, budget configs, and both levers were built and measured for real (see the repo). Self-hosting was priced but not run — no GPU available — and is labelled as an estimate throughout.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solidFill>
            <a:srgbClr val="E5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774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1F3A"/>
                </a:solidFill>
                <a:latin typeface="Calibri"/>
              </a:rPr>
              <a:t>$1.66  </a:t>
            </a:r>
            <a:r>
              <a:rPr sz="1600">
                <a:solidFill>
                  <a:srgbClr val="1A1A1A"/>
                </a:solidFill>
                <a:latin typeface="Calibri"/>
              </a:rPr>
              <a:t>→ $0.31 per 1,000 requests, baseline → 10x spike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1F3A"/>
                </a:solidFill>
                <a:latin typeface="Calibri"/>
              </a:rPr>
              <a:t>2  </a:t>
            </a:r>
            <a:r>
              <a:rPr sz="1600">
                <a:solidFill>
                  <a:srgbClr val="1A1A1A"/>
                </a:solidFill>
                <a:latin typeface="Calibri"/>
              </a:rPr>
              <a:t>cost levers implemented and measured (cache + batch queue)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1F3A"/>
                </a:solidFill>
                <a:latin typeface="Calibri"/>
              </a:rPr>
              <a:t>40%  </a:t>
            </a:r>
            <a:r>
              <a:rPr sz="1600">
                <a:solidFill>
                  <a:srgbClr val="1A1A1A"/>
                </a:solidFill>
                <a:latin typeface="Calibri"/>
              </a:rPr>
              <a:t>cache hit-rate measured on a 20-request fixture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1F3A"/>
                </a:solidFill>
                <a:latin typeface="Calibri"/>
              </a:rPr>
              <a:t>$20/mo  </a:t>
            </a:r>
            <a:r>
              <a:rPr sz="1600">
                <a:solidFill>
                  <a:srgbClr val="1A1A1A"/>
                </a:solidFill>
                <a:latin typeface="Calibri"/>
              </a:rPr>
              <a:t>budget ceiling configured, 80%/100% alert thresholds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1F3A"/>
                </a:solidFill>
                <a:latin typeface="Calibri"/>
              </a:rPr>
              <a:t>11x  </a:t>
            </a:r>
            <a:r>
              <a:rPr sz="1600">
                <a:solidFill>
                  <a:srgbClr val="1A1A1A"/>
                </a:solidFill>
                <a:latin typeface="Calibri"/>
              </a:rPr>
              <a:t>spike volume needed before self-hosting would break even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DELIVERABLE 1 — COST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Calibri"/>
              </a:rPr>
              <a:t>Cost per 1,000 requests: baseline vs. 10x spike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73736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WHY IT DROPS UNDER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Token cost is flat per request — it doesn't get cheaper in bulk.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Server cost (1 → 4 instances) and ops overhead are fixed costs, spread across far more requests at the spike.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Net effect: fixed costs dilute faster than the flat token cost holds — $/1k falls as volume rises, for this workload shape.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Every rate (token price, server cost, ops hours) is footnoted in cost/cost_model.md — nothing here is an invented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DELIVERABLE 2 — DEPLOY &amp;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Calibri"/>
              </a:rPr>
              <a:t>Runnable deployment, with spend controls built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50">
                <a:solidFill>
                  <a:srgbClr val="118A8A"/>
                </a:solidFill>
                <a:latin typeface="Calibri"/>
              </a:rPr>
              <a:t>Deployed, not just designed.  </a:t>
            </a:r>
            <a:r>
              <a:rPr sz="1550">
                <a:solidFill>
                  <a:srgbClr val="1A1A1A"/>
                </a:solidFill>
                <a:latin typeface="Calibri"/>
              </a:rPr>
              <a:t>docker-compose.cost.yml builds and runs the triage API sized to the cost model's own assumptions (0.5 vCPU / 1 GiB) — built and health-checked against a real local Docker engine, evidence captured.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50">
                <a:solidFill>
                  <a:srgbClr val="118A8A"/>
                </a:solidFill>
                <a:latin typeface="Calibri"/>
              </a:rPr>
              <a:t>FinOps tags on the running container.  </a:t>
            </a:r>
            <a:r>
              <a:rPr sz="1550">
                <a:solidFill>
                  <a:srgbClr val="1A1A1A"/>
                </a:solidFill>
                <a:latin typeface="Calibri"/>
              </a:rPr>
              <a:t>cost-center, owner, environment, and a $20/month ceiling tag — read back live via docker inspect, not just written in a config file.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50">
                <a:solidFill>
                  <a:srgbClr val="118A8A"/>
                </a:solidFill>
                <a:latin typeface="Calibri"/>
              </a:rPr>
              <a:t>Budget alerts, ready to apply.  </a:t>
            </a:r>
            <a:r>
              <a:rPr sz="1550">
                <a:solidFill>
                  <a:srgbClr val="1A1A1A"/>
                </a:solidFill>
                <a:latin typeface="Calibri"/>
              </a:rPr>
              <a:t>Azure and AWS budget configs at $20/month, warning at 80% of actual spend and 100% of forecasted spend. No paid cloud account exists yet — declared plainly, not hidden — so these are submitted as config-as-code plus local run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REAL 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42316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Consolas"/>
              </a:rPr>
              <a:t>$ docker compose -f docker-compose.cost.yml up --build -d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Consolas"/>
              </a:rPr>
              <a:t>  Container deploy-triage-api-1  Started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Consolas"/>
              </a:rPr>
              <a:t>$ curl http://localhost:8000/health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Consolas"/>
              </a:rPr>
              <a:t>  {"status":"ok", "version":"1.0.0"}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Consolas"/>
              </a:rPr>
              <a:t>$ docker inspect ... .Config.Labels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Consolas"/>
              </a:rPr>
              <a:t>  finops.cost-center: afyaplus-clinical-ops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Consolas"/>
              </a:rPr>
              <a:t>  finops.budget-ceiling-usd-month: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DELIVERABLE 3 — LEVER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Calibri"/>
              </a:rPr>
              <a:t>Response caching: skip the model when we already know the answer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78308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A5563"/>
                </a:solidFill>
                <a:latin typeface="Calibri"/>
              </a:rPr>
              <a:t>40% hit rate measured on a 20-request fixture — 8 fewer model calls, same share less AI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SAFETY RULE, ENFORCED 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9456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Exact-match cache only — a differently worded message is always a fresh call, never a guessed match to a different complaint.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1" sz="1500">
                <a:solidFill>
                  <a:srgbClr val="118A8A"/>
                </a:solidFill>
                <a:latin typeface="Calibri"/>
              </a:rPr>
              <a:t>High-urgency responses are never cached.  </a:t>
            </a:r>
            <a:r>
              <a:rPr sz="1500">
                <a:solidFill>
                  <a:srgbClr val="1A1A1A"/>
                </a:solidFill>
                <a:latin typeface="Calibri"/>
              </a:rPr>
              <a:t>the one case where a stale answer could matter clinically is the one case guaranteed to always get a fresh read.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5-minute TTL bounds how long any cached answer can be served.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Trade-off, stated plainly: the only remaining risk is an identical repeated message inside the TTL window — narrow, and excludes urgent cases entirely.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DELIVERABLE 3 — LEVER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Calibri"/>
              </a:rPr>
              <a:t>Batch queue: share the fixed prompt cost across a group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78308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THE TRADE-OFF,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1" sz="1500">
                <a:solidFill>
                  <a:srgbClr val="118A8A"/>
                </a:solidFill>
                <a:latin typeface="Calibri"/>
              </a:rPr>
              <a:t>~20% lower token cost  </a:t>
            </a:r>
            <a:r>
              <a:rPr sz="1500">
                <a:solidFill>
                  <a:srgbClr val="1A1A1A"/>
                </a:solidFill>
                <a:latin typeface="Calibri"/>
              </a:rPr>
              <a:t>on the AI portion during busy periods, by sharing the fixed system-prompt tokens across a batch instead of paying them per request.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1" sz="1500">
                <a:solidFill>
                  <a:srgbClr val="118A8A"/>
                </a:solidFill>
                <a:latin typeface="Calibri"/>
              </a:rPr>
              <a:t>Cost, for latency.  </a:t>
            </a:r>
            <a:r>
              <a:rPr sz="1500">
                <a:solidFill>
                  <a:srgbClr val="1A1A1A"/>
                </a:solidFill>
                <a:latin typeface="Calibri"/>
              </a:rPr>
              <a:t>under light traffic, a partial batch can wait up to the full timeout (2s) before processing even starts — measured p95 of 2.55 seconds in our test.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1" sz="1500">
                <a:solidFill>
                  <a:srgbClr val="118A8A"/>
                </a:solidFill>
                <a:latin typeface="Calibri"/>
              </a:rPr>
              <a:t>Same answer, slower delivery.  </a:t>
            </a:r>
            <a:r>
              <a:rPr sz="1500">
                <a:solidFill>
                  <a:srgbClr val="1A1A1A"/>
                </a:solidFill>
                <a:latin typeface="Calibri"/>
              </a:rPr>
              <a:t>this lever never changes the content of a response — only how long it takes to arrive.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b="1" sz="1500">
                <a:solidFill>
                  <a:srgbClr val="118A8A"/>
                </a:solidFill>
                <a:latin typeface="Calibri"/>
              </a:rPr>
              <a:t>Mitigation, same principle as caching.  </a:t>
            </a:r>
            <a:r>
              <a:rPr sz="1500">
                <a:solidFill>
                  <a:srgbClr val="1A1A1A"/>
                </a:solidFill>
                <a:latin typeface="Calibri"/>
              </a:rPr>
              <a:t>batching is scoped to routine queue traffic only; urgent messages bypass the queue and get an immediate, unbatched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DELIVERABLE 4 — BUILD VS.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Calibri"/>
              </a:rPr>
              <a:t>Should we run our own AI hardware? Not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BREAK-EVEN, IN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557784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2257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2257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22576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vs. break-even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577840" cy="502920"/>
          </a:xfrm>
          <a:prstGeom prst="rect">
            <a:avLst/>
          </a:prstGeom>
          <a:solidFill>
            <a:srgbClr val="E5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60,000 /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D98E04"/>
                </a:solidFill>
                <a:latin typeface="Calibri"/>
              </a:rPr>
              <a:t>112x below break-even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5577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10x spike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375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600,000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37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D98E04"/>
                </a:solidFill>
                <a:latin typeface="Calibri"/>
              </a:rPr>
              <a:t>11x below break-even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5577840" cy="502920"/>
          </a:xfrm>
          <a:prstGeom prst="rect">
            <a:avLst/>
          </a:prstGeom>
          <a:solidFill>
            <a:srgbClr val="E5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Calibri"/>
              </a:rPr>
              <a:t>Break-even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40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6,715,000 /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404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563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5577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563"/>
                </a:solidFill>
                <a:latin typeface="Calibri"/>
              </a:rPr>
              <a:t>Self-host estimate: ~$499/month fixed (1x GPU instance + extra ops) vs. $0.0000743 per request on the API. Not run in this environment — no GPU available — every self-host figure is a labelled estimate, not a measurement.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830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WHAT WOULD CHANGE THIS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Sustained (not spiky) volume approaching the multi-million-request/month range.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A data-residency requirement forcing patient data to stay on our own infrastructure, regardless of cost.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Materially cheaper GPU access (reserved capacity, hardware we already own).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▪  A real evaluation showing an open-weight model matches gpt-4o-mini's structured-output quality on this task — not assumed here.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8A8A"/>
                </a:solidFill>
                <a:latin typeface="Calibri"/>
              </a:rPr>
              <a:t>ONE RISK, ONE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16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98E04"/>
                </a:solidFill>
                <a:latin typeface="Calibri"/>
              </a:rP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6634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Both cost levers trade a small amount of speed or freshness for savings. Misapplied to an urgent case — a stale cached answer, or a delayed batched response — a delay could matter clinically, not just financially.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Calibri"/>
              </a:rPr>
              <a:t>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6634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Both levers already enforce an urgent-case bypass in code today — not a future to-do. High-urgency responses are never cached and never queued for batching; they always get an immediate, fresh call to the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8A8A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Calibri"/>
              </a:rPr>
              <a:t>Go — with three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377440" cy="8229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4708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82296" cy="960120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Calibri"/>
              </a:rPr>
              <a:t>1. Activate the budget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A5563"/>
                </a:solidFill>
                <a:latin typeface="Calibri"/>
              </a:rPr>
              <a:t>within 30 days of a paid cloud account existing — the config is ready now, just not yet applied.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40"/>
            <a:ext cx="82296" cy="960120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Calibri"/>
              </a:rPr>
              <a:t>2. Keep the urgent-case bypass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A5563"/>
                </a:solidFill>
                <a:latin typeface="Calibri"/>
              </a:rPr>
              <a:t>on both levers — this is a safety condition, not a performance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82296" cy="960120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Calibri"/>
              </a:rPr>
              <a:t>3. Re-cost before scaling past the 10x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A5563"/>
                </a:solidFill>
                <a:latin typeface="Calibri"/>
              </a:rPr>
              <a:t>the model here is validated to 20,000 requests/day; sustained growth beyond that gets a fresh look, not an assumption.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A5563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Full evidence, footnotes,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and gitflow history in the repo: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18A8A"/>
                </a:solidFill>
                <a:latin typeface="Calibri"/>
              </a:rPr>
              <a:t>github.com/pmutua/cost-optimized-deployment-and-exec-brief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Philip Mutua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7D3E0"/>
                </a:solidFill>
                <a:latin typeface="Calibri"/>
              </a:rPr>
              <a:t>Week 7 Capstone — Cost-Optimised Deployment &amp; Executive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